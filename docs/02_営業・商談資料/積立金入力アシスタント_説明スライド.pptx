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1B2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20000" y="2232000"/>
            <a:ext cx="10800000" cy="10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  <a:latin typeface="游ゴシック"/>
              </a:rPr>
              <a:t>積立金会計 入力アシスタント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0000" y="3456000"/>
            <a:ext cx="10800000" cy="7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600" b="1">
                <a:solidFill>
                  <a:srgbClr val="F5B731"/>
                </a:solidFill>
                <a:latin typeface="游ゴシック"/>
              </a:rPr>
              <a:t>320人分の入力を、1クリックに。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0000" y="4464000"/>
            <a:ext cx="10800000" cy="5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0">
                <a:solidFill>
                  <a:srgbClr val="FFFFFF"/>
                </a:solidFill>
                <a:latin typeface="游ゴシック"/>
              </a:rPr>
              <a:t>現場レクチャー ／ ご説明資料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251999"/>
            <a:ext cx="11304000" cy="57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B2F56"/>
                </a:solidFill>
                <a:latin typeface="游ゴシック"/>
              </a:rPr>
              <a:t>本日の内容（約60分）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468000" y="900000"/>
            <a:ext cx="3240000" cy="43200"/>
          </a:xfrm>
          <a:prstGeom prst="rect">
            <a:avLst/>
          </a:prstGeom>
          <a:solidFill>
            <a:srgbClr val="F5B7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6000" y="1512000"/>
            <a:ext cx="10980000" cy="4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0">
                <a:solidFill>
                  <a:srgbClr val="1B2F56"/>
                </a:solidFill>
                <a:latin typeface="游ゴシック"/>
              </a:rPr>
              <a:t>・これは何か ― マスターは1ミリも変えない「入力の代行係」（10分）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B2F56"/>
                </a:solidFill>
                <a:latin typeface="游ゴシック"/>
              </a:rPr>
              <a:t>・毎月の山場を実演 ― 銀行の振替結果を貼って、ボタン1つ（15分）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B2F56"/>
                </a:solidFill>
                <a:latin typeface="游ゴシック"/>
              </a:rPr>
              <a:t>・ハンズオン ― 皆さまの手で同じ操作を（15分）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B2F56"/>
                </a:solidFill>
                <a:latin typeface="游ゴシック"/>
              </a:rPr>
              <a:t>・年に1回の業務 ― 320名のクラス替えが2クリック（10分）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B2F56"/>
                </a:solidFill>
                <a:latin typeface="游ゴシック"/>
              </a:rPr>
              <a:t>・点検・保管・質疑（10分）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251999"/>
            <a:ext cx="11304000" cy="57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B2F56"/>
                </a:solidFill>
                <a:latin typeface="游ゴシック"/>
              </a:rPr>
              <a:t>全体像 ― 届いたデータが、ボタン操作だけでマスターと帳票になる</a:t>
            </a:r>
          </a:p>
        </p:txBody>
      </p:sp>
      <p:sp>
        <p:nvSpPr>
          <p:cNvPr id="3" name="Rectangle 2"/>
          <p:cNvSpPr/>
          <p:nvPr/>
        </p:nvSpPr>
        <p:spPr>
          <a:xfrm>
            <a:off x="468000" y="900000"/>
            <a:ext cx="3240000" cy="43200"/>
          </a:xfrm>
          <a:prstGeom prst="rect">
            <a:avLst/>
          </a:prstGeom>
          <a:solidFill>
            <a:srgbClr val="F5B7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6059" y="1152000"/>
            <a:ext cx="8640000" cy="55296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251999"/>
            <a:ext cx="11304000" cy="57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B2F56"/>
                </a:solidFill>
                <a:latin typeface="游ゴシック"/>
              </a:rPr>
              <a:t>準備は1回だけ ― 設定シートの黄色いセルを埋める</a:t>
            </a:r>
          </a:p>
        </p:txBody>
      </p:sp>
      <p:sp>
        <p:nvSpPr>
          <p:cNvPr id="3" name="Rectangle 2"/>
          <p:cNvSpPr/>
          <p:nvPr/>
        </p:nvSpPr>
        <p:spPr>
          <a:xfrm>
            <a:off x="468000" y="900000"/>
            <a:ext cx="3240000" cy="43200"/>
          </a:xfrm>
          <a:prstGeom prst="rect">
            <a:avLst/>
          </a:prstGeom>
          <a:solidFill>
            <a:srgbClr val="F5B7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6059" y="1152000"/>
            <a:ext cx="8640000" cy="5529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76000" y="6789600"/>
            <a:ext cx="10980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0">
                <a:solidFill>
                  <a:srgbClr val="2F5FA8"/>
                </a:solidFill>
                <a:latin typeface="游ゴシック"/>
              </a:rPr>
              <a:t>マスター(C3)・年度(C5)・口座マスター(C7) の3ヶ所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251999"/>
            <a:ext cx="11304000" cy="57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B2F56"/>
                </a:solidFill>
                <a:latin typeface="游ゴシック"/>
              </a:rPr>
              <a:t>業務とボタンが1対1 ― 覚えるのは12個のボタンだけ</a:t>
            </a:r>
          </a:p>
        </p:txBody>
      </p:sp>
      <p:sp>
        <p:nvSpPr>
          <p:cNvPr id="3" name="Rectangle 2"/>
          <p:cNvSpPr/>
          <p:nvPr/>
        </p:nvSpPr>
        <p:spPr>
          <a:xfrm>
            <a:off x="468000" y="900000"/>
            <a:ext cx="3240000" cy="43200"/>
          </a:xfrm>
          <a:prstGeom prst="rect">
            <a:avLst/>
          </a:prstGeom>
          <a:solidFill>
            <a:srgbClr val="F5B7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6059" y="1152000"/>
            <a:ext cx="8640000" cy="55296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251999"/>
            <a:ext cx="11304000" cy="57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B2F56"/>
                </a:solidFill>
                <a:latin typeface="游ゴシック"/>
              </a:rPr>
              <a:t>毎月の山場① ― 銀行の振替結果を貼るだけで未納者が見つかる</a:t>
            </a:r>
          </a:p>
        </p:txBody>
      </p:sp>
      <p:sp>
        <p:nvSpPr>
          <p:cNvPr id="3" name="Rectangle 2"/>
          <p:cNvSpPr/>
          <p:nvPr/>
        </p:nvSpPr>
        <p:spPr>
          <a:xfrm>
            <a:off x="468000" y="900000"/>
            <a:ext cx="3240000" cy="43200"/>
          </a:xfrm>
          <a:prstGeom prst="rect">
            <a:avLst/>
          </a:prstGeom>
          <a:solidFill>
            <a:srgbClr val="F5B7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6059" y="1152000"/>
            <a:ext cx="8640000" cy="5529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76000" y="6789600"/>
            <a:ext cx="10980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0">
                <a:solidFill>
                  <a:srgbClr val="2F5FA8"/>
                </a:solidFill>
                <a:latin typeface="游ゴシック"/>
              </a:rPr>
              <a:t>読取321件／振替済315名／未納5名 が数秒で判定される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251999"/>
            <a:ext cx="11304000" cy="57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B2F56"/>
                </a:solidFill>
                <a:latin typeface="游ゴシック"/>
              </a:rPr>
              <a:t>毎月の山場② ― 未納者表は自動。⑤で全員分を一括記録</a:t>
            </a:r>
          </a:p>
        </p:txBody>
      </p:sp>
      <p:sp>
        <p:nvSpPr>
          <p:cNvPr id="3" name="Rectangle 2"/>
          <p:cNvSpPr/>
          <p:nvPr/>
        </p:nvSpPr>
        <p:spPr>
          <a:xfrm>
            <a:off x="468000" y="900000"/>
            <a:ext cx="3240000" cy="43200"/>
          </a:xfrm>
          <a:prstGeom prst="rect">
            <a:avLst/>
          </a:prstGeom>
          <a:solidFill>
            <a:srgbClr val="F5B7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6059" y="1152000"/>
            <a:ext cx="8640000" cy="55296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251999"/>
            <a:ext cx="11304000" cy="57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B2F56"/>
                </a:solidFill>
                <a:latin typeface="游ゴシック"/>
              </a:rPr>
              <a:t>支出があったとき ― 例外だけ書けば、記録と承認書が同時に終わる</a:t>
            </a:r>
          </a:p>
        </p:txBody>
      </p:sp>
      <p:sp>
        <p:nvSpPr>
          <p:cNvPr id="3" name="Rectangle 2"/>
          <p:cNvSpPr/>
          <p:nvPr/>
        </p:nvSpPr>
        <p:spPr>
          <a:xfrm>
            <a:off x="468000" y="900000"/>
            <a:ext cx="3240000" cy="43200"/>
          </a:xfrm>
          <a:prstGeom prst="rect">
            <a:avLst/>
          </a:prstGeom>
          <a:solidFill>
            <a:srgbClr val="F5B7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6059" y="1152000"/>
            <a:ext cx="8640000" cy="55296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251999"/>
            <a:ext cx="11304000" cy="57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B2F56"/>
                </a:solidFill>
                <a:latin typeface="游ゴシック"/>
              </a:rPr>
              <a:t>毎年4月 ― 320名のクラス替えが「貼って2クリック」</a:t>
            </a:r>
          </a:p>
        </p:txBody>
      </p:sp>
      <p:sp>
        <p:nvSpPr>
          <p:cNvPr id="3" name="Rectangle 2"/>
          <p:cNvSpPr/>
          <p:nvPr/>
        </p:nvSpPr>
        <p:spPr>
          <a:xfrm>
            <a:off x="468000" y="900000"/>
            <a:ext cx="3240000" cy="43200"/>
          </a:xfrm>
          <a:prstGeom prst="rect">
            <a:avLst/>
          </a:prstGeom>
          <a:solidFill>
            <a:srgbClr val="F5B7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6059" y="1152000"/>
            <a:ext cx="8640000" cy="5529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76000" y="6789600"/>
            <a:ext cx="10980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0">
                <a:solidFill>
                  <a:srgbClr val="2F5FA8"/>
                </a:solidFill>
                <a:latin typeface="游ゴシック"/>
              </a:rPr>
              <a:t>人が判断するのは赤い行（転入生・同姓同名）だけ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251999"/>
            <a:ext cx="11304000" cy="57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B2F56"/>
                </a:solidFill>
                <a:latin typeface="游ゴシック"/>
              </a:rPr>
              <a:t>年間予定表 ― 計画は1回、実行は2クリック</a:t>
            </a:r>
          </a:p>
        </p:txBody>
      </p:sp>
      <p:sp>
        <p:nvSpPr>
          <p:cNvPr id="3" name="Rectangle 2"/>
          <p:cNvSpPr/>
          <p:nvPr/>
        </p:nvSpPr>
        <p:spPr>
          <a:xfrm>
            <a:off x="468000" y="900000"/>
            <a:ext cx="3240000" cy="43200"/>
          </a:xfrm>
          <a:prstGeom prst="rect">
            <a:avLst/>
          </a:prstGeom>
          <a:solidFill>
            <a:srgbClr val="F5B7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6059" y="1152000"/>
            <a:ext cx="8640000" cy="55296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251999"/>
            <a:ext cx="11304000" cy="57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B2F56"/>
                </a:solidFill>
                <a:latin typeface="游ゴシック"/>
              </a:rPr>
              <a:t>締めの点検と帳票 ― 保管まで毎月同じ流れ</a:t>
            </a:r>
          </a:p>
        </p:txBody>
      </p:sp>
      <p:sp>
        <p:nvSpPr>
          <p:cNvPr id="3" name="Rectangle 2"/>
          <p:cNvSpPr/>
          <p:nvPr/>
        </p:nvSpPr>
        <p:spPr>
          <a:xfrm>
            <a:off x="468000" y="900000"/>
            <a:ext cx="3240000" cy="43200"/>
          </a:xfrm>
          <a:prstGeom prst="rect">
            <a:avLst/>
          </a:prstGeom>
          <a:solidFill>
            <a:srgbClr val="F5B7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6059" y="1152000"/>
            <a:ext cx="8640000" cy="55296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251999"/>
            <a:ext cx="11304000" cy="57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B2F56"/>
                </a:solidFill>
                <a:latin typeface="游ゴシック"/>
              </a:rPr>
              <a:t>「壊さない」ための4つの安全装置</a:t>
            </a:r>
          </a:p>
        </p:txBody>
      </p:sp>
      <p:sp>
        <p:nvSpPr>
          <p:cNvPr id="3" name="Rectangle 2"/>
          <p:cNvSpPr/>
          <p:nvPr/>
        </p:nvSpPr>
        <p:spPr>
          <a:xfrm>
            <a:off x="468000" y="900000"/>
            <a:ext cx="3240000" cy="43200"/>
          </a:xfrm>
          <a:prstGeom prst="rect">
            <a:avLst/>
          </a:prstGeom>
          <a:solidFill>
            <a:srgbClr val="F5B7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76000" y="1512000"/>
            <a:ext cx="5400000" cy="1800000"/>
          </a:xfrm>
          <a:prstGeom prst="roundRect">
            <a:avLst/>
          </a:prstGeom>
          <a:solidFill>
            <a:srgbClr val="F5F8FD"/>
          </a:solidFill>
          <a:ln>
            <a:solidFill>
              <a:srgbClr val="2F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2000" b="1">
                <a:solidFill>
                  <a:srgbClr val="1B2F56"/>
                </a:solidFill>
                <a:latin typeface="游ゴシック"/>
              </a:rPr>
              <a:t>自動バックアップ</a:t>
            </a:r>
          </a:p>
          <a:p>
            <a:r>
              <a:rPr sz="1400" b="0">
                <a:solidFill>
                  <a:srgbClr val="66707D"/>
                </a:solidFill>
                <a:latin typeface="游ゴシック"/>
              </a:rPr>
              <a:t>書き込みのたびに実行前のコピーを日時付きで自動保存。いつでも戻せる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92000" y="1512000"/>
            <a:ext cx="5400000" cy="1800000"/>
          </a:xfrm>
          <a:prstGeom prst="roundRect">
            <a:avLst/>
          </a:prstGeom>
          <a:solidFill>
            <a:srgbClr val="F5F8FD"/>
          </a:solidFill>
          <a:ln>
            <a:solidFill>
              <a:srgbClr val="2F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2000" b="1">
                <a:solidFill>
                  <a:srgbClr val="1B2F56"/>
                </a:solidFill>
                <a:latin typeface="游ゴシック"/>
              </a:rPr>
              <a:t>構造チェック</a:t>
            </a:r>
          </a:p>
          <a:p>
            <a:r>
              <a:rPr sz="1400" b="0">
                <a:solidFill>
                  <a:srgbClr val="66707D"/>
                </a:solidFill>
                <a:latin typeface="游ゴシック"/>
              </a:rPr>
              <a:t>マスターの形が想定と違うファイルには書き込まない（誤爆防止）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76000" y="3527999"/>
            <a:ext cx="5400000" cy="1800000"/>
          </a:xfrm>
          <a:prstGeom prst="roundRect">
            <a:avLst/>
          </a:prstGeom>
          <a:solidFill>
            <a:srgbClr val="F5F8FD"/>
          </a:solidFill>
          <a:ln>
            <a:solidFill>
              <a:srgbClr val="2F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2000" b="1">
                <a:solidFill>
                  <a:srgbClr val="1B2F56"/>
                </a:solidFill>
                <a:latin typeface="游ゴシック"/>
              </a:rPr>
              <a:t>上書き確認</a:t>
            </a:r>
          </a:p>
          <a:p>
            <a:r>
              <a:rPr sz="1400" b="0">
                <a:solidFill>
                  <a:srgbClr val="66707D"/>
                </a:solidFill>
                <a:latin typeface="游ゴシック"/>
              </a:rPr>
              <a:t>金額が入っている列には、人数を示して確認してから書き込む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92000" y="3527999"/>
            <a:ext cx="5400000" cy="1800000"/>
          </a:xfrm>
          <a:prstGeom prst="roundRect">
            <a:avLst/>
          </a:prstGeom>
          <a:solidFill>
            <a:srgbClr val="F5F8FD"/>
          </a:solidFill>
          <a:ln>
            <a:solidFill>
              <a:srgbClr val="2F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2000" b="1">
                <a:solidFill>
                  <a:srgbClr val="1B2F56"/>
                </a:solidFill>
                <a:latin typeface="游ゴシック"/>
              </a:rPr>
              <a:t>触らない設計</a:t>
            </a:r>
          </a:p>
          <a:p>
            <a:r>
              <a:rPr sz="1400" b="0">
                <a:solidFill>
                  <a:srgbClr val="66707D"/>
                </a:solidFill>
                <a:latin typeface="游ゴシック"/>
              </a:rPr>
              <a:t>精算番号・氏名・数式列・行や列の並びは一切変更しない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251999"/>
            <a:ext cx="11304000" cy="57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B2F56"/>
                </a:solidFill>
                <a:latin typeface="游ゴシック"/>
              </a:rPr>
              <a:t>料金プラン（初期費用0円・30日間無料トライアル）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468000" y="900000"/>
            <a:ext cx="3240000" cy="43200"/>
          </a:xfrm>
          <a:prstGeom prst="rect">
            <a:avLst/>
          </a:prstGeom>
          <a:solidFill>
            <a:srgbClr val="F5B7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76000" y="1440000"/>
            <a:ext cx="3528000" cy="414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5DE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b="1" sz="2000">
                <a:solidFill>
                  <a:srgbClr val="1B2F56"/>
                </a:solidFill>
                <a:latin typeface="游ゴシック"/>
              </a:rPr>
              <a:t>ライト</a:t>
            </a:r>
          </a:p>
          <a:p>
            <a:pPr algn="ctr"/>
            <a:r>
              <a:rPr b="1" sz="2800">
                <a:solidFill>
                  <a:srgbClr val="2F5FA8"/>
                </a:solidFill>
                <a:latin typeface="游ゴシック"/>
              </a:rPr>
              <a:t>9,800円/月</a:t>
            </a:r>
          </a:p>
          <a:p>
            <a:pPr algn="l"/>
            <a:r>
              <a:rPr b="0" sz="1400">
                <a:solidFill>
                  <a:srgbClr val="1B2F56"/>
                </a:solidFill>
                <a:latin typeface="游ゴシック"/>
              </a:rPr>
              <a:t>・1学年（1会計）</a:t>
            </a:r>
          </a:p>
          <a:p>
            <a:pPr algn="l"/>
            <a:r>
              <a:rPr b="0" sz="1400">
                <a:solidFill>
                  <a:srgbClr val="1B2F56"/>
                </a:solidFill>
                <a:latin typeface="游ゴシック"/>
              </a:rPr>
              <a:t>・メールサポート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92000" y="1440000"/>
            <a:ext cx="3528000" cy="4140000"/>
          </a:xfrm>
          <a:prstGeom prst="roundRect">
            <a:avLst/>
          </a:prstGeom>
          <a:solidFill>
            <a:srgbClr val="FFF7E0"/>
          </a:solidFill>
          <a:ln w="38100">
            <a:solidFill>
              <a:srgbClr val="F5B7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b="1" sz="2000">
                <a:solidFill>
                  <a:srgbClr val="1B2F56"/>
                </a:solidFill>
                <a:latin typeface="游ゴシック"/>
              </a:rPr>
              <a:t>スタンダード（おすすめ）</a:t>
            </a:r>
          </a:p>
          <a:p>
            <a:pPr algn="ctr"/>
            <a:r>
              <a:rPr b="1" sz="2800">
                <a:solidFill>
                  <a:srgbClr val="2F5FA8"/>
                </a:solidFill>
                <a:latin typeface="游ゴシック"/>
              </a:rPr>
              <a:t>19,800円/月</a:t>
            </a:r>
          </a:p>
          <a:p>
            <a:pPr algn="l"/>
            <a:r>
              <a:rPr b="0" sz="1400">
                <a:solidFill>
                  <a:srgbClr val="1B2F56"/>
                </a:solidFill>
                <a:latin typeface="游ゴシック"/>
              </a:rPr>
              <a:t>・全学年（3会計）</a:t>
            </a:r>
          </a:p>
          <a:p>
            <a:pPr algn="l"/>
            <a:r>
              <a:rPr b="0" sz="1400">
                <a:solidFill>
                  <a:srgbClr val="1B2F56"/>
                </a:solidFill>
                <a:latin typeface="游ゴシック"/>
              </a:rPr>
              <a:t>・新年度対応アップデート</a:t>
            </a:r>
          </a:p>
          <a:p>
            <a:pPr algn="l"/>
            <a:r>
              <a:rPr b="0" sz="1400">
                <a:solidFill>
                  <a:srgbClr val="1B2F56"/>
                </a:solidFill>
                <a:latin typeface="游ゴシック"/>
              </a:rPr>
              <a:t>・導入支援・優先サポート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08000" y="1440000"/>
            <a:ext cx="3528000" cy="414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5DE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b="1" sz="2000">
                <a:solidFill>
                  <a:srgbClr val="1B2F56"/>
                </a:solidFill>
                <a:latin typeface="游ゴシック"/>
              </a:rPr>
              <a:t>プレミアム</a:t>
            </a:r>
          </a:p>
          <a:p>
            <a:pPr algn="ctr"/>
            <a:r>
              <a:rPr b="1" sz="2800">
                <a:solidFill>
                  <a:srgbClr val="2F5FA8"/>
                </a:solidFill>
                <a:latin typeface="游ゴシック"/>
              </a:rPr>
              <a:t>34,800円/月</a:t>
            </a:r>
          </a:p>
          <a:p>
            <a:pPr algn="l"/>
            <a:r>
              <a:rPr b="0" sz="1400">
                <a:solidFill>
                  <a:srgbClr val="1B2F56"/>
                </a:solidFill>
                <a:latin typeface="游ゴシック"/>
              </a:rPr>
              <a:t>・全学年＋様式カスタマイズ</a:t>
            </a:r>
          </a:p>
          <a:p>
            <a:pPr algn="l"/>
            <a:r>
              <a:rPr b="0" sz="1400">
                <a:solidFill>
                  <a:srgbClr val="1B2F56"/>
                </a:solidFill>
                <a:latin typeface="游ゴシック"/>
              </a:rPr>
              <a:t>・研修年2回・電話サポート</a:t>
            </a:r>
          </a:p>
          <a:p>
            <a:pPr algn="l"/>
            <a:r>
              <a:rPr b="0" sz="1400">
                <a:solidFill>
                  <a:srgbClr val="1B2F56"/>
                </a:solidFill>
                <a:latin typeface="游ゴシック"/>
              </a:rPr>
              <a:t>・データ移行支援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00" y="5760000"/>
            <a:ext cx="10980000" cy="57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0">
                <a:solidFill>
                  <a:srgbClr val="66707D"/>
                </a:solidFill>
                <a:latin typeface="游ゴシック"/>
              </a:rPr>
              <a:t>年間契約・税別／年払いは2ヶ月分割引／請求書払い対応。生徒1人あたり月約62円（320名校・スタンダード）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1B2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20000" y="2340000"/>
            <a:ext cx="10800000" cy="10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游ゴシック"/>
              </a:rPr>
              <a:t>今年のクラス替えから、間に合います。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0000" y="3671999"/>
            <a:ext cx="10800000" cy="7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0">
                <a:solidFill>
                  <a:srgbClr val="F5B731"/>
                </a:solidFill>
                <a:latin typeface="游ゴシック"/>
              </a:rPr>
              <a:t>初期費用0円・30日間無料トライアル｜まずは架空データの練習環境からノーリスクで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0000" y="4680000"/>
            <a:ext cx="10800000" cy="5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0">
                <a:solidFill>
                  <a:srgbClr val="FFFFFF"/>
                </a:solidFill>
                <a:latin typeface="游ゴシック"/>
              </a:rPr>
              <a:t>お問い合わせ: info@cocorolab.co.jp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