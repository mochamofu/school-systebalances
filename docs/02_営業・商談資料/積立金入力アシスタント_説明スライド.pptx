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232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游ゴシック"/>
              </a:rPr>
              <a:t>積立金会計 入力アシスタント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456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5B731"/>
                </a:solidFill>
                <a:latin typeface="游ゴシック"/>
              </a:rPr>
              <a:t>320人分の入力を、1クリックに。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464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游ゴシック"/>
              </a:rPr>
              <a:t>現場レクチャー ／ ご説明資料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本日の内容（約60分）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・これは何か ― マスターは1ミリも変えない「入力の代行係」（10分）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・毎月の山場を実演 ― 銀行の振替結果を貼って、ボタン1つ（15分）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・ハンズオン ― 皆さまの手で同じ操作を（15分）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・年に1回の業務 ― 320名のクラス替えが2クリック（10分）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・点検・保管・質疑（10分）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全体像 ― 届いたデータが、ボタン操作だけでマスターと帳票になる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準備は1回だけ ― 設定シートの黄色いセルを埋める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マスター(C3)・年度(C5)・口座マスター(C7) の3ヶ所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業務とボタンが1対1 ― 覚えるのは12個のボタンだけ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毎月の山場① ― 銀行の振替結果を貼るだけで未納者が見つかる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読取321件／振替済315名／未納5名 が数秒で判定される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毎月の山場② ― 未納者表は自動。⑤で全員分を一括記録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支出があったとき ― 例外だけ書けば、記録と承認書が同時に終わる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毎年4月 ― 320名のクラス替えが「貼って2クリック」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人が判断するのは赤い行（転入生・同姓同名）だけ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年間予定表 ― 計画は1回、実行は2クリック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締めの点検と帳票 ― 保管まで毎月同じ流れ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「壊さない」ための4つの安全装置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1512000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自動バックアップ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書き込みのたびに実行前のコピーを日時付きで自動保存。いつでも戻せる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2000" y="1512000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構造チェック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マスターの形が想定と違うファイルには書き込まない（誤爆防止）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3527999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上書き確認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金額が入っている列には、人数を示して確認してから書き込む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3527999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触らない設計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精算番号・氏名・数式列・行や列の並びは一切変更しない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ご利用料金について（仮）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60000" y="1655999"/>
            <a:ext cx="7848000" cy="2232000"/>
          </a:xfrm>
          <a:prstGeom prst="roundRect">
            <a:avLst/>
          </a:prstGeom>
          <a:solidFill>
            <a:srgbClr val="FFF7E0"/>
          </a:solidFill>
          <a:ln w="38100">
            <a:solidFill>
              <a:srgbClr val="F5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4400">
                <a:solidFill>
                  <a:srgbClr val="1B2F56"/>
                </a:solidFill>
                <a:latin typeface="游ゴシック"/>
              </a:rPr>
              <a:t>要相談</a:t>
            </a:r>
          </a:p>
          <a:p>
            <a:pPr algn="ctr"/>
            <a:r>
              <a:rPr b="1" sz="1800">
                <a:solidFill>
                  <a:srgbClr val="1B2F56"/>
                </a:solidFill>
                <a:latin typeface="游ゴシック"/>
              </a:rPr>
              <a:t>学校のご予算に合わせて個別にお見積りします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4176000"/>
            <a:ext cx="93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707D"/>
                </a:solidFill>
                <a:latin typeface="游ゴシック"/>
              </a:rPr>
              <a:t>・初期費用は0円。30日間の無料トライアルからノーリスクで始められます</a:t>
            </a:r>
          </a:p>
          <a:p>
            <a:r>
              <a:rPr sz="1600">
                <a:solidFill>
                  <a:srgbClr val="66707D"/>
                </a:solidFill>
                <a:latin typeface="游ゴシック"/>
              </a:rPr>
              <a:t>・お見積り・ご相談は無料です（金額のお話はトライアルで価値をご確認いただいた後で結構です）</a:t>
            </a:r>
          </a:p>
          <a:p>
            <a:r>
              <a:rPr sz="1600">
                <a:solidFill>
                  <a:srgbClr val="66707D"/>
                </a:solidFill>
                <a:latin typeface="游ゴシック"/>
              </a:rPr>
              <a:t>・年額・月額どちらでも、請求書払いに対応します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4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游ゴシック"/>
              </a:rPr>
              <a:t>今年のクラス替えから、間に合います。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671999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5B731"/>
                </a:solidFill>
                <a:latin typeface="游ゴシック"/>
              </a:rPr>
              <a:t>初期費用0円・30日間無料トライアル｜まずは架空データの練習環境からノーリスクで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