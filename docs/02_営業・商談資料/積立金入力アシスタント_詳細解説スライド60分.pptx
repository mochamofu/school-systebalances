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挨拶。今日は詳しい版。前半でしくみ、真ん中で15個の機能を全部、後半で安全装置と導入の進め方。質問はいつでも遮ってOKと伝える。使うデータはすべて架空と宣言。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時間配分を先に見せて安心してもらう。第4部が本体。途中休憩は入れない代わりに質問随時。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まず現状の確認から。参加者の実務と一致するか、頷きを確認しながら進める。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「この流れで合っていますか？」と必ず聞く。違う点があればメモして後の説明で拾う。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時間だけでなく心理的負担を強調。預かり金だから1円のミスも説明責任がある、という共感を取る。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既存のやり方を否定しないことが大事。マスターは正しい、入力だけが辛い、という整理。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ここから製品の話。キーワードは『隣に置く』『読むのと書くのを分ける』。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矢印を左から右へ。届くデータ→アシスタント→マスター・帳票。アシスタントが「入力の代行係」。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「ソフトを入れる」のではなく「Excelファイルを置く」。ここが公立校で大事なポイント。詳しくは管理者向け説明資料があると案内。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6つ読み上げる価値あり。監査・引き継ぎの観点で刺さる。「壊しようがない設計」と言い切る。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情報担当が同席していたらこのスライドを厚めに。管理者向けA4を配布資料として渡せる。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設定は3ヶ所だけ、と先に言ってから見せる。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導入日は一緒に入れるので、覚える必要はないと安心させる。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共有口座の扱いは質問が出やすい。機械が勝手に決めず人に返す設計、と答える。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壊しても作り直せる練習環境がある、が導入の心理的ハードルを下げる。本日のデモも全部これ。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1機能1枚×15。各スライド90秒目安。デモを挟むなら①④⑪の3ヶ所。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「何日かかっていましたか？」と聞いてから。赤い行しか見なくていい、が核心。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①と②で「見る」と「書く」を分けている＝確認してから書く設計、と説明。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1年生用。入学時に1回だけ。以後3年間は②のクラス替えだけで回る。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一番使うボタン。例外だけ書く、という発想の転換を丁寧に。315人入力→例外3人だけ書く。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⑪とセットで使う。未納の印が数式で自動、という既存マスターの仕組みを活かしている点を強調。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小さい機能だが「どの枠を使えばいいか」の迷いを消す。30秒でよい。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年度末の残業がここで消える。実データ検証で合計が1円も違わないことを確認済みと言える。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「健康診断ボタン」。押しても何も変わらないから毎月押してよい、と伝える。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320枚のPDFが数分でできる。保護者説明・保管・再発行が楽になる。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既存マクロの後継と説明すると安心される。「作った人がいなくても、もう直せる」の実例。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本製品の心臓。目視で探す作業がゼロになる。デモをやるならここ。数字を予告してから実行。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計画は年度初めに1回、実行は2クリック、というリズムを見せる。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⑬⑭⑮は年度替わりの3点セット。ここからの3枚は続き物として話す。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実データ検証で、5列に分かれた業者の合算が1円も違わないことを確認済み。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項目は毎年入れ替わる、という現場の実情に対する答え。3年間の学年進行がこのサイクルで回る。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機能の次は「壊さない仕組み」。事務室で一番大事な話。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4枚のカードを1枚ずつ。バックアップは「毎回・自動・同じPC内」の3語で。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「間違えたらどうなるの」への先回り回答。検証ログがあることも一言添える。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1年分を1枚で。これが配布資料にもなっている（使い方ガイド参照）。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月次ルーチンの完成形。属人化せず、誰がやっても同じ流れになる。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最後に導入の話。ここは押し売りせず、段階を見せて安心してもらう。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「いきなり本番に使わない」を強調。並走期間が信頼をつくる。チェックシートを見せる。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3点だけ復唱。ここで質問を受ける。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料金はここでも深追いしない。トライアル開始日の相談へつなげる。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積立金会計 入力アシスタント　詳細解説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456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B731"/>
                </a:solidFill>
                <a:latin typeface="游ゴシック"/>
              </a:rPr>
              <a:t>しくみ・全機能・安全装置・導入の進め方（60分版）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本日の流れ（約60分）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・第1部　いまの業務と課題の整理（5分）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・第2部　製品の全体像 ― マスターに触らないしくみ（10分）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・第3部　初期設定 ― 最初の1回だけやること（5分）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・第4部　15個の機能を全部見る（25分）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・第5部　安全装置と年間の運用（10分）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・第6部　導入の進め方・質疑（5分）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04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B731"/>
                </a:solidFill>
                <a:latin typeface="游ゴシック"/>
              </a:rPr>
              <a:t>第1部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24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いまの業務と課題の整理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1080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游ゴシック"/>
              </a:rPr>
              <a:t>（約5分）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いまの毎月の流れ（確認）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・ゆうちょ銀行から振替結果が届く（紙 または データ）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・振替できなかった生徒を目で探す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・全員分の入金額を、1人ずつマスターへ手入力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・支出が発生するたび、同じ金額を全員分入力し、例外の生徒を1人ずつ修正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・同じ内容を支出承認書・収入承認書にもう一度書く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・年度末は電卓で項目ごとに集計して決算書へ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数字で見る、いまの負担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0029" y="1800000"/>
            <a:ext cx="3384000" cy="28800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4800">
                <a:solidFill>
                  <a:srgbClr val="2F5FA8"/>
                </a:solidFill>
                <a:latin typeface="游ゴシック"/>
              </a:rPr>
              <a:t>320人分</a:t>
            </a:r>
          </a:p>
          <a:p>
            <a:pPr algn="ctr"/>
            <a:r>
              <a:rPr b="0" sz="1500">
                <a:solidFill>
                  <a:srgbClr val="1B2F56"/>
                </a:solidFill>
                <a:latin typeface="游ゴシック"/>
              </a:rPr>
              <a:t>毎回の入力対象（全校）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4059" y="1800000"/>
            <a:ext cx="3384000" cy="28800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4800">
                <a:solidFill>
                  <a:srgbClr val="2F5FA8"/>
                </a:solidFill>
                <a:latin typeface="游ゴシック"/>
              </a:rPr>
              <a:t>月5〜10時間</a:t>
            </a:r>
          </a:p>
          <a:p>
            <a:pPr algn="ctr"/>
            <a:r>
              <a:rPr b="0" sz="1500">
                <a:solidFill>
                  <a:srgbClr val="1B2F56"/>
                </a:solidFill>
                <a:latin typeface="游ゴシック"/>
              </a:rPr>
              <a:t>入力・照合・転記の手作業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8089" y="1800000"/>
            <a:ext cx="3384000" cy="28800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4800">
                <a:solidFill>
                  <a:srgbClr val="2F5FA8"/>
                </a:solidFill>
                <a:latin typeface="游ゴシック"/>
              </a:rPr>
              <a:t>1件</a:t>
            </a:r>
          </a:p>
          <a:p>
            <a:pPr algn="ctr"/>
            <a:r>
              <a:rPr b="0" sz="1500">
                <a:solidFill>
                  <a:srgbClr val="1B2F56"/>
                </a:solidFill>
                <a:latin typeface="游ゴシック"/>
              </a:rPr>
              <a:t>誤請求は1件でも保護者対応に発展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040000"/>
            <a:ext cx="109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707D"/>
                </a:solidFill>
                <a:latin typeface="游ゴシック"/>
              </a:rPr>
              <a:t>時間の負担と、金額の大小によらない「間違えられない」緊張の両方が課題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いまのExcelマスターを「変えない」理由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・長年使われてきたマスターは、様式も数式も現場と監査に馴染んだ資産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・新システムへの移行は、データ載せ替え・二重運用・研修のコストが大きい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・だから本製品は、マスターを置き換えない。1ミリも変えない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B2F56"/>
                </a:solidFill>
                <a:latin typeface="游ゴシック"/>
              </a:rPr>
              <a:t>・変えるのは「入力のしかた」だけ ― 手入力を、ボタンに任せる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04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B731"/>
                </a:solidFill>
                <a:latin typeface="游ゴシック"/>
              </a:rPr>
              <a:t>第2部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24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製品の全体像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1080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游ゴシック"/>
              </a:rPr>
              <a:t>（約10分）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全体像 ― 届いたデータが、ボタン操作だけでマスターと帳票になる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お渡しするファイルはこれだけ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・積立金入力アシスタント.xlsm ― 本体。ボタン①〜⑮が入ったExcelブック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・口座マスターひな形.xlsx ― 精算番号と、ゆうちょ口座の対応表（⑪で使用）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・練習用データ一式 ― 架空の80名。何度でも安全に練習できる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・検証用データ一式 ― 架空の320名。実物と同じ規模での確認用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・サーバー・インストール・アカウント・ネット接続 ― すべて不要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「マスターに触らない」6つの約束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・行・列の挿入・削除・並べ替えは一切しない（精算書の数式を壊さない）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・精算番号・氏名の列には書き込まない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・数式の列（未納印・合計・残金など）には書き込まない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・書き込むのは、金額のセルと見出しだけ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・書き込む前に、必ずバックアップ（控えのコピー）を自動作成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・マスターの形が想定と違うファイルには、書き込み自体を拒否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パソコンに対して「行わないこと」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・インストーラーの実行 ― なし（フォルダにコピーするだけ）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・管理者権限 ― 不要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・レジストリ・システム設定の変更 ― なし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・常駐プログラム ― なし（Excelを閉じれば何も動かない）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・ネットワーク通信 ― なし（完全オフライン・外部送信ゼロ）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・削除するとき ― ファイルを消すだけ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04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B731"/>
                </a:solidFill>
                <a:latin typeface="游ゴシック"/>
              </a:rPr>
              <a:t>第3部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24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初期設定 ― 最初の1回だけ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1080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游ゴシック"/>
              </a:rPr>
              <a:t>（約5分）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設定シート ― 黄色いセルを3ヶ所埋めるだけ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マスターの場所（C3）・年度（C5）・口座マスターの場所（C7）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口座マスターを1回だけ作る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・精算番号・氏名・口座記号・口座番号 の4列を、ひな形に入力（400行まで）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・⑪振替結果の照合が、この表を使って「どの口座＝どの生徒」を判定する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・全角の数字が混ざっていても自動でそろえて照合する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・兄弟で同じ口座を共有している場合は「要確認」として人間に返す（勝手に判定しない）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・作るのは1回だけ。翌年は転出入の差分を直すだけ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練習環境 ― 架空の80名でいつでも練習できる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実在の生徒情報はどこにも入っていません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04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B731"/>
                </a:solidFill>
                <a:latin typeface="游ゴシック"/>
              </a:rPr>
              <a:t>第4部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24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15個の機能を全部見る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1080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游ゴシック"/>
              </a:rPr>
              <a:t>（約25分）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①　名簿を解析して照合する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毎年4月、クラス替えの掲示用名簿が出たとき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掲示用名簿をシートにそのまま貼り付けて、ボタンを押すだけ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クラスのブロック配置を自動で見つけ、氏名でマスターと照合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全員の新しい組・番号が一覧になる（320名なら320行）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転入生・同姓同名だけ赤い行になる ― 人が見るのはそこだけ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少人数クラス（3名以上）も自動で検出</a:t>
            </a:r>
          </a:p>
        </p:txBody>
      </p:sp>
      <p:pic>
        <p:nvPicPr>
          <p:cNvPr id="5" name="Picture 4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②　クラス替えをマスターに反映する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①の照合結果を確認した後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ボタン1つ。書き込み前に自動バックアップ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全員分の組・番号がマスターに一括反映される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精算番号と氏名は変更しない（並び順が崩れない）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反映後も①の一覧が残るので、後から見直せる</a:t>
            </a:r>
          </a:p>
        </p:txBody>
      </p:sp>
      <p:pic>
        <p:nvPicPr>
          <p:cNvPr id="5" name="Picture 4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③　新入生としてマスターに登録する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新年度、1年生のマスターを新しく作るとき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名簿を貼って①で解析 → ③で空のマスターに登録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精算番号1番から順に、組・番号・氏名が入った新しいマスターができる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空のマスター（様式だけのファイル）はこちらで用意して納品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3年間このマスターを使い続ける（学年進行）</a:t>
            </a:r>
          </a:p>
        </p:txBody>
      </p:sp>
      <p:pic>
        <p:nvPicPr>
          <p:cNvPr id="5" name="Picture 4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④　支出をマスターへ一括入力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業者への支払いが発生するたび（遠足・教材・検定など）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支出No・件名・日付・一人あたり金額を入力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対象外や金額が違う生徒だけ「例外表」に精算番号で書く → ボタン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在籍全員に金額が入り、例外だけ上書きされる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同じ内容で支出承認書シートも自動で埋まる（印刷するだけ）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転退学者は0、給付型は0、返金はマイナスで書く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存在しない精算番号を書くとエラーで止まる（黙って無視しない）</a:t>
            </a:r>
          </a:p>
        </p:txBody>
      </p:sp>
      <p:pic>
        <p:nvPicPr>
          <p:cNvPr id="5" name="Picture 4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⑤　収入をマスターへ一括入力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口座振替の結果が確定したとき（毎月）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収入枠No・件名・一人あたり金額を入力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振替できなかった生徒だけ「未納者表」に精算番号 → ボタン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未納者以外の全員に入金額が入る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未納者は空欄のまま → マスターのH列に未納の印が自動で立つ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収入承認書も自動で埋まる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未納者表は⑪が自動で作るので、通常は手入力不要</a:t>
            </a:r>
          </a:p>
        </p:txBody>
      </p:sp>
      <p:pic>
        <p:nvPicPr>
          <p:cNvPr id="5" name="Picture 4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⑥　収入枠の一覧を表示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⑤で使う枠Noを決めるとき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ボタン1つ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43個の収入枠の使用状況（項目名・人数）が一覧で出る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空いている枠がすぐ分かる。上書きミスの予防</a:t>
            </a:r>
          </a:p>
        </p:txBody>
      </p:sp>
      <p:pic>
        <p:nvPicPr>
          <p:cNvPr id="5" name="Picture 4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⑦　決算用の集計を実行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年度末、決算書を作るとき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ボタン1つ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全項目の 人数・一人あたり・執行総額 が一覧になる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この数字を決算書へ転記するだけ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電卓での項目別集計が不要になる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「一人あたり」は最も多くの生徒に入っている金額を自動判定</a:t>
            </a:r>
          </a:p>
        </p:txBody>
      </p:sp>
      <p:pic>
        <p:nvPicPr>
          <p:cNvPr id="5" name="Picture 4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⑧　マスターの整合性をチェック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月次の締め・決算前・不安なとき、いつでも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ボタン1つ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収支の突き合わせ・未納者一覧・入力漏れの点検結果が出る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書き込みは一切しない読み取り専用の点検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月1回の実行を習慣にすると監査対応が楽</a:t>
            </a:r>
          </a:p>
        </p:txBody>
      </p:sp>
      <p:pic>
        <p:nvPicPr>
          <p:cNvPr id="5" name="Picture 4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⑨　精算書を一括PDF保存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精算書を配る・保管するとき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ボタン1つ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生徒ごとのPDF（組-番号_氏名.pdf）が全員分できる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紙の一括印刷しかなかった精算書を、デジタルでも保存できる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保存先は設定シートで変更可能</a:t>
            </a:r>
          </a:p>
        </p:txBody>
      </p:sp>
      <p:pic>
        <p:nvPicPr>
          <p:cNvPr id="5" name="Picture 4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⑩　精算書を一括印刷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精算書を紙で配るとき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ボタン1つ（範囲指定も可能）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全員分の精算書が順に印刷される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マスターに元々入っていた1999年製の印刷マクロを、安全に作り直したもの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動きは今までと同じなので、使い勝手が変わらない</a:t>
            </a:r>
          </a:p>
        </p:txBody>
      </p:sp>
      <p:pic>
        <p:nvPicPr>
          <p:cNvPr id="5" name="Picture 4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⑪　振替結果を照合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ゆうちょから振替結果が届いたとき（毎月の山場）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結果の 記号・番号・金額・結果 を貼り付けてボタン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口座マスターと照合し、生徒ごとに 振替済／未納 を自動判定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未納者は⑤の未納者表へ自動転記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読取件数・済・未納・不明の集計も表示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不明口座・共有口座・重複行は「要確認」として人間に返す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1000行まで一度に貼れる（全校分OK）</a:t>
            </a:r>
          </a:p>
        </p:txBody>
      </p:sp>
      <p:pic>
        <p:nvPicPr>
          <p:cNvPr id="5" name="Picture 4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⑫　予定を入力フォームへ転送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年間予定表に書いた予定を実行するとき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予定の行番号を指定するだけ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支出入力／収入入力のフォームに件名・金額が自動で入る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あとは④または⑤を押すだけ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毎回請求書から件名や金額を打ち直さなくてよくなる</a:t>
            </a:r>
          </a:p>
        </p:txBody>
      </p:sp>
      <p:pic>
        <p:nvPicPr>
          <p:cNvPr id="5" name="Picture 4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⑬　支出項目を読み込む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年度末・年度替わりに、1年間の支出を振り返るとき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ボタン1つ（マスターは読むだけ・書き換えない）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支出100枠が一覧になる（件名・日付・人数・一人あたり・総額）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業者名の列は自由に書き換えられる（次の⑭で使う）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未使用の枠は自動で除外される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書き込んだ業者名やメモは、読み直しても消えない</a:t>
            </a:r>
          </a:p>
        </p:txBody>
      </p:sp>
      <p:pic>
        <p:nvPicPr>
          <p:cNvPr id="5" name="Picture 4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⑭　業者別に集計する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「この業者に年間いくら使ったか」を知りたいとき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⑬の一覧で業者名をそろえて、ボタン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業者ごとの 項目数・年間合計・月別内訳（4月〜3月）が出る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同じ業者が複数の列に分かれていても1行に合算される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例：教材業者が5列に分散 → 業者名をそろえるだけで年間合計が出る</a:t>
            </a:r>
          </a:p>
        </p:txBody>
      </p:sp>
      <p:pic>
        <p:nvPicPr>
          <p:cNvPr id="5" name="Picture 4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⑮　来年度の予定へ引き継ぐ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224000"/>
            <a:ext cx="63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いつ使う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翌年度のファイルを準備するとき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操作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⑬の一覧で、来年も使う項目に○を付けてボタン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起きること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○の項目だけが年間予定表に自動で追加される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2F5FA8"/>
                </a:solidFill>
                <a:latin typeface="游ゴシック"/>
              </a:rPr>
              <a:t>■ 注意・コツ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「今年これ要らない」→ ×にするだけ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「今年これ追加したい」→ 予定表に1行書くだけ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1B2F56"/>
                </a:solidFill>
                <a:latin typeface="游ゴシック"/>
              </a:rPr>
              <a:t>　毎年のファイル作りが○×の付け替えで済む</a:t>
            </a:r>
          </a:p>
        </p:txBody>
      </p:sp>
      <p:pic>
        <p:nvPicPr>
          <p:cNvPr id="5" name="Picture 4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00" y="1655999"/>
            <a:ext cx="4860000" cy="3110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04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B731"/>
                </a:solidFill>
                <a:latin typeface="游ゴシック"/>
              </a:rPr>
              <a:t>第5部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24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安全装置と年間の運用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1080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游ゴシック"/>
              </a:rPr>
              <a:t>（約10分）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4つの安全装置（すべて自動で働く）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1512000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自動バックアップ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書き込みのたびに、実行前のコピーを日時付きで自動保存。いつでも戻せる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2000" y="1512000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構造チェック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マスターの形が想定と違うファイルには書き込まない（誤ったファイルへの誤爆防止）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3527999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上書き確認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すでに金額が入っている列には、人数を示して確認してから書き込む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3527999"/>
            <a:ext cx="5400000" cy="1800000"/>
          </a:xfrm>
          <a:prstGeom prst="roundRect">
            <a:avLst/>
          </a:prstGeom>
          <a:solidFill>
            <a:srgbClr val="F5F8FD"/>
          </a:solidFill>
          <a:ln>
            <a:solidFill>
              <a:srgbClr val="2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1B2F56"/>
                </a:solidFill>
                <a:latin typeface="游ゴシック"/>
              </a:rPr>
              <a:t>入力チェック</a:t>
            </a:r>
          </a:p>
          <a:p>
            <a:r>
              <a:rPr sz="1400" b="0">
                <a:solidFill>
                  <a:srgbClr val="66707D"/>
                </a:solidFill>
                <a:latin typeface="游ゴシック"/>
              </a:rPr>
              <a:t>存在しない精算番号・空欄の金額は、その場でエラーにして止まる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わざと間違えると、どうなるか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・存在しない精算番号（例：400）を書いて実行 → 「範囲外です」で停止。何も書かれない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・金額欄を空のまま実行 → 「金額欄が空です」で停止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・設定のファイル場所が空のまま実行 → 入力を促す案内で停止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・マスター以外のExcelを指定して実行 → 「形が想定と違います」で書き込み拒否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・壊れる前に、止まる ― これを異常データ15項目のテストで確認済み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年間カレンダー ― いつ、どのボタンを使うか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・4月 ― 名簿貼付→①照合→②反映（新1年は③登録）。年間予定表を記入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・毎月 ― 振替結果を貼る→⑪照合→⑤一括入力。支出のたび④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・毎月の締め ― ⑧整合性チェック → マスターと帳票を保管用PCへ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・年度末 ― ⑦決算集計 → 決算書へ転記。⑨精算書PDF／⑩印刷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・年度替わり ― ⑬読み込み→業者名と○×→⑭業者別集計→⑮翌年度へ引き継ぎ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毎月の締め ― 点検と帳票の保管まで同じ流れ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59" y="1152000"/>
            <a:ext cx="8640000" cy="55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6789600"/>
            <a:ext cx="109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F5FA8"/>
                </a:solidFill>
                <a:latin typeface="游ゴシック"/>
              </a:rPr>
              <a:t>マスター＋精算書PDF＋チェック結果をワンセットで保管用PCへ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04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B731"/>
                </a:solidFill>
                <a:latin typeface="游ゴシック"/>
              </a:rPr>
              <a:t>第6部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24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導入の進め方・質疑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1080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游ゴシック"/>
              </a:rPr>
              <a:t>（約5分）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導入は3段階 ― いきなり本番には使いません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・第1段階　練習（架空の80名）― 壊してよい環境でひととおり操作に慣れる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・第2段階　並走（実マスターのコピー）― 手入力の結果と突き合わせて、1円も違わないことを自分の目で確認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・第3段階　本番切り替え ― 設定シートの場所を本物に変えるだけ。以後も毎回自動バックアップ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・各段階に動作確認チェックシート（期待値つき）を用意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B2F56"/>
                </a:solidFill>
                <a:latin typeface="游ゴシック"/>
              </a:rPr>
              <a:t>・うまくいかないときは、いつでも元のやり方に戻れる（マスターは無傷のまま）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51999"/>
            <a:ext cx="1130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2F56"/>
                </a:solidFill>
                <a:latin typeface="游ゴシック"/>
              </a:rPr>
              <a:t>まとめ ― 今日の3点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000" y="900000"/>
            <a:ext cx="3240000" cy="432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B2F56"/>
                </a:solidFill>
                <a:latin typeface="游ゴシック"/>
              </a:rPr>
              <a:t>・いまのマスターは1ミリも変えない。変わるのは入力のしかただけ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B2F56"/>
                </a:solidFill>
                <a:latin typeface="游ゴシック"/>
              </a:rPr>
              <a:t>・毎月の山場（振替照合）と年1回の山場（クラス替え）が、貼ってボタンになる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B2F56"/>
                </a:solidFill>
                <a:latin typeface="游ゴシック"/>
              </a:rPr>
              <a:t>・壊さない安全装置と、練習→並走→本番の段階導入で、安心して始められる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4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游ゴシック"/>
              </a:rPr>
              <a:t>ご質問をどうぞ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71999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5B731"/>
                </a:solidFill>
                <a:latin typeface="游ゴシック"/>
              </a:rPr>
              <a:t>料金は学校のご予算に合わせて個別にご相談｜まずは無料の練習環境から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